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5"/>
          </a:solidFill>
          <a:ln/>
        </p:spPr>
      </p:sp>
      <p:pic>
        <p:nvPicPr>
          <p:cNvPr id="3" name="Image 0" descr="C:\Users\lenovo\AppData\Local\Temp\claude\D--LexAid\6a8b49c2-101c-4649-9950-3891d0646d46\scratchpad\template-imgs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2880"/>
            <a:ext cx="3840480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LEX</a:t>
            </a:r>
            <a:endParaRPr lang="en-US" sz="10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916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D1A356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AID</a:t>
            </a:r>
            <a:endParaRPr lang="en-US" sz="10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5F0E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AI-Powered Indian Legal Aid Platform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1A35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Guided Intake  •  Multilingual  •  WhatsApp-Ready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Snehal Wadhane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42425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1005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THE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D1A356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PROBLEM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0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0" y="27432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905B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65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05B3E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1.4B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Indians lack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basic legal literacy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27432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905B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365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05B3E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80%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Cases with no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legal representation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23760" y="27432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905B3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0" y="365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05B3E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₹1.5K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170432"/>
            <a:ext cx="16916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Avg. consultation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cost per visit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011680"/>
            <a:ext cx="5486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011680"/>
            <a:ext cx="320040" cy="62179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83280" y="2011680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210312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Complex legal language makes FIRs, notices, and court orders impossible to understand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743200"/>
            <a:ext cx="5486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743200"/>
            <a:ext cx="320040" cy="62179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83280" y="2743200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28346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High counsel fees drive citizens away from justice — especially in rural India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474720"/>
            <a:ext cx="5486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474720"/>
            <a:ext cx="320040" cy="62179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383280" y="3474720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35661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No single platform identifies the right Act, Section, or authority for a given situation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4206240"/>
            <a:ext cx="54864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4206240"/>
            <a:ext cx="320040" cy="62179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83280" y="4206240"/>
            <a:ext cx="320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42976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Most legal tech requires English literacy; multilingual access is nearly absent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C:\Users\lenovo\AppData\Local\Temp\claude\D--LexAid\6a8b49c2-101c-4649-9950-3891d0646d46\scratchpad\template-imgs\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365760"/>
            <a:ext cx="365760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0" y="2743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INTRODUCTION &amp;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114800" y="822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0" y="1463040"/>
            <a:ext cx="4754880" cy="1051560"/>
          </a:xfrm>
          <a:prstGeom prst="rect">
            <a:avLst/>
          </a:prstGeom>
          <a:solidFill>
            <a:srgbClr val="F5F0EB"/>
          </a:solidFill>
          <a:ln w="9525">
            <a:solidFill>
              <a:srgbClr val="E0D8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0" y="1463040"/>
            <a:ext cx="365760" cy="1051560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 is LexAid?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847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 RAG system answering Indian legal queries from 14 statutes — BNS 2023, Consumer Protection Act, POCSO, RTI, and more — with section-level citation.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2651760"/>
            <a:ext cx="4754880" cy="1051560"/>
          </a:xfrm>
          <a:prstGeom prst="rect">
            <a:avLst/>
          </a:prstGeom>
          <a:solidFill>
            <a:srgbClr val="F5F0EB"/>
          </a:solidFill>
          <a:ln w="9525">
            <a:solidFill>
              <a:srgbClr val="E0D8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0" y="2651760"/>
            <a:ext cx="365760" cy="1051560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0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Why Now?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0358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India’s new criminal codes (BNS, BNSS, BSA) took effect July 2024. Citizens and lawyers alike struggle to navigate them. Real-time lookup is urgent.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0" y="3840480"/>
            <a:ext cx="4754880" cy="1051560"/>
          </a:xfrm>
          <a:prstGeom prst="rect">
            <a:avLst/>
          </a:prstGeom>
          <a:solidFill>
            <a:srgbClr val="F5F0EB"/>
          </a:solidFill>
          <a:ln w="9525">
            <a:solidFill>
              <a:srgbClr val="E0D8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3840480"/>
            <a:ext cx="365760" cy="1051560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0" y="3913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Who Needs It?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2245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First-generation rights claimants, domestic workers, RTI filers, MSME owners — people who cannot afford ₹1,500/hr consultations.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LITERATURE REVIEW &amp;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1A35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920240" cy="420624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" y="12801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Tool /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554480" cy="420624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48840" y="128016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280160"/>
            <a:ext cx="914400" cy="420624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1280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Indian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Law?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777240" cy="420624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Triage?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280160"/>
            <a:ext cx="868680" cy="420624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128016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WA?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280160"/>
            <a:ext cx="2743200" cy="420624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801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737360"/>
            <a:ext cx="192024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" y="1783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DoNotPay (US/UK)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1737360"/>
            <a:ext cx="155448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85416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Rule-based chatbot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3320" y="1737360"/>
            <a:ext cx="91440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39896" y="178308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737360"/>
            <a:ext cx="77724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54296" y="1783080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1737360"/>
            <a:ext cx="86868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31536" y="1783080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737360"/>
            <a:ext cx="274320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0216" y="1783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Not India-specific, no statute lookup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359152"/>
            <a:ext cx="192024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5176" y="240487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NyayaAI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48840" y="2359152"/>
            <a:ext cx="155448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85416" y="24048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GPT-4 chat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2359152"/>
            <a:ext cx="91440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39896" y="240487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2359152"/>
            <a:ext cx="77724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54296" y="2404872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94960" y="2359152"/>
            <a:ext cx="86868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31536" y="2404872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2359152"/>
            <a:ext cx="274320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0216" y="2404872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No RAG grounding, hallucination risk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2980944"/>
            <a:ext cx="192024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5176" y="302666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NALSA Portal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148840" y="2980944"/>
            <a:ext cx="155448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85416" y="3026664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Static legal info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03320" y="2980944"/>
            <a:ext cx="91440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39896" y="302666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C67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2980944"/>
            <a:ext cx="77724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54296" y="3026664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94960" y="2980944"/>
            <a:ext cx="86868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31536" y="3026664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2980944"/>
            <a:ext cx="2743200" cy="548640"/>
          </a:xfrm>
          <a:prstGeom prst="rect">
            <a:avLst/>
          </a:prstGeom>
          <a:solidFill>
            <a:srgbClr val="2E2F30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00216" y="3026664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Outdated — no BNS/BNSS 2023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602736"/>
            <a:ext cx="192024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5176" y="36484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GPT-4 / Gemini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148840" y="3602736"/>
            <a:ext cx="155448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185416" y="3648456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General LLM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03320" y="3602736"/>
            <a:ext cx="91440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39896" y="364845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Partial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17720" y="3602736"/>
            <a:ext cx="77724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54296" y="3648456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94960" y="3602736"/>
            <a:ext cx="86868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31536" y="3648456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7373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✗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63640" y="3602736"/>
            <a:ext cx="2743200" cy="548640"/>
          </a:xfrm>
          <a:prstGeom prst="rect">
            <a:avLst/>
          </a:prstGeom>
          <a:solidFill>
            <a:srgbClr val="34353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300216" y="3648456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No citation, confidentiality risk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28600" y="4224528"/>
            <a:ext cx="1920240" cy="548640"/>
          </a:xfrm>
          <a:prstGeom prst="rect">
            <a:avLst/>
          </a:prstGeom>
          <a:solidFill>
            <a:srgbClr val="905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65176" y="42702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LexAid (Ours)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148840" y="4224528"/>
            <a:ext cx="1554480" cy="548640"/>
          </a:xfrm>
          <a:prstGeom prst="rect">
            <a:avLst/>
          </a:prstGeom>
          <a:solidFill>
            <a:srgbClr val="905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185416" y="427024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RAG + Triage Wizard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4224528"/>
            <a:ext cx="914400" cy="548640"/>
          </a:xfrm>
          <a:prstGeom prst="rect">
            <a:avLst/>
          </a:prstGeom>
          <a:solidFill>
            <a:srgbClr val="905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739896" y="427024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14 Acts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617720" y="4224528"/>
            <a:ext cx="777240" cy="548640"/>
          </a:xfrm>
          <a:prstGeom prst="rect">
            <a:avLst/>
          </a:prstGeom>
          <a:solidFill>
            <a:srgbClr val="905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654296" y="4270248"/>
            <a:ext cx="704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394960" y="4224528"/>
            <a:ext cx="868680" cy="548640"/>
          </a:xfrm>
          <a:prstGeom prst="rect">
            <a:avLst/>
          </a:prstGeom>
          <a:solidFill>
            <a:srgbClr val="905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431536" y="4270248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263640" y="4224528"/>
            <a:ext cx="2743200" cy="548640"/>
          </a:xfrm>
          <a:prstGeom prst="rect">
            <a:avLst/>
          </a:prstGeom>
          <a:solidFill>
            <a:srgbClr val="905B3E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300216" y="427024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Grounded, cited, WhatsApp-ready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228600" y="4754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Our key differentiators: Section-level citation from real statutes + Guided Triage + WhatsApp channel — none of the above has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GOALS &amp;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2237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530352" cy="53035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Statute-Grounded RAG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Answer legal queries from 14 Indian acts with section-level citation — zero hallucinations.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2801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280160"/>
            <a:ext cx="530352" cy="53035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54680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Guided Triage Wizard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Help citizens navigate to the right legal domain before asking, via a 6-category wizard.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2801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280160"/>
            <a:ext cx="530352" cy="53035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89320" y="1280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137160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Multilingual Access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Serve queries in Hindi and 6+ regional languages via Bhashini API integration.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54680"/>
            <a:ext cx="530352" cy="53035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0040" y="3154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3246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WhatsApp Channel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Reach 500M+ Indian users via Meta WhatsApp Business Cloud API with session memory.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315468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3154680"/>
            <a:ext cx="530352" cy="53035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154680" y="3154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776472" y="3246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Privacy-First Design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24612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No login required for queries; optional Supabase session history with user consent.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315468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3154680"/>
            <a:ext cx="530352" cy="53035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89320" y="31546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611112" y="324612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080760" y="37490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Vercel + Railway deployment with sub-3s P95 response time for all query types.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KEY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315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3474720"/>
          </a:xfrm>
          <a:prstGeom prst="rect">
            <a:avLst/>
          </a:prstGeom>
          <a:solidFill>
            <a:srgbClr val="2424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1A356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848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Guided Intake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Triage Wizard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809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6 categories: Labour, Consumer, Criminal,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Property, RTI, Civil Rights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381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Pre-built prompts per sub-category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reduce user effort to 2 clicks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953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Category filter on ChromaDB cuts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irrelevant retrieval noise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525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Differentiator #1 — no Indian legal 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has a structured intake wizard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023360" cy="3474720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1481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1A356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02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0848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WhatsApp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Channel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9809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Meta WhatsApp Business Cloud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webhook integration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4381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Works on any phone — no app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or data plan required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8953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Reaches 500M+ WhatsApp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across India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3525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 Differentiator #2 — legal AI on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E8C0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channel citizens already use daily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2468880"/>
            <a:ext cx="1005840" cy="1005840"/>
          </a:xfrm>
          <a:prstGeom prst="ellipse">
            <a:avLst/>
          </a:prstGeom>
          <a:solidFill>
            <a:srgbClr val="D1A35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069080" y="25603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Core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 Pipeline + Frontend + External Services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645920" cy="685800"/>
          </a:xfrm>
          <a:prstGeom prst="rect">
            <a:avLst/>
          </a:prstGeom>
          <a:solidFill>
            <a:srgbClr val="EBF4F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152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Web Browser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453896"/>
            <a:ext cx="1554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Next.js 14 / React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097280"/>
            <a:ext cx="1645920" cy="685800"/>
          </a:xfrm>
          <a:prstGeom prst="rect">
            <a:avLst/>
          </a:prstGeom>
          <a:solidFill>
            <a:srgbClr val="EBF4F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1521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453896"/>
            <a:ext cx="15544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Meta Business API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005840"/>
            <a:ext cx="2103120" cy="914400"/>
          </a:xfrm>
          <a:prstGeom prst="rect">
            <a:avLst/>
          </a:prstGeom>
          <a:solidFill>
            <a:srgbClr val="905B3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10607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4813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Python 3.10 | Uvicorn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1005840"/>
            <a:ext cx="2377440" cy="914400"/>
          </a:xfrm>
          <a:prstGeom prst="rect">
            <a:avLst/>
          </a:prstGeom>
          <a:solidFill>
            <a:srgbClr val="242425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106070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Groq Cloud LLM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gpt-oss-120b / 20b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1444752"/>
            <a:ext cx="2057400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1444752"/>
            <a:ext cx="228600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63040"/>
            <a:ext cx="457200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286000"/>
            <a:ext cx="2103120" cy="777240"/>
          </a:xfrm>
          <a:prstGeom prst="rect">
            <a:avLst/>
          </a:prstGeom>
          <a:solidFill>
            <a:srgbClr val="D1A356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77640" y="2340864"/>
            <a:ext cx="201168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ChromaDB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2690165"/>
            <a:ext cx="201168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1,735 chunks | 14 Acts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2286000"/>
            <a:ext cx="2377440" cy="777240"/>
          </a:xfrm>
          <a:prstGeom prst="rect">
            <a:avLst/>
          </a:prstGeom>
          <a:solidFill>
            <a:srgbClr val="EEEE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2340864"/>
            <a:ext cx="2286000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multilingual-e5-small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2690165"/>
            <a:ext cx="2286000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Local embedding model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83480" y="1920240"/>
            <a:ext cx="0" cy="365760"/>
          </a:xfrm>
          <a:prstGeom prst="line">
            <a:avLst/>
          </a:prstGeom>
          <a:noFill/>
          <a:ln w="19050">
            <a:solidFill>
              <a:srgbClr val="2424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679192"/>
            <a:ext cx="457200" cy="0"/>
          </a:xfrm>
          <a:prstGeom prst="line">
            <a:avLst/>
          </a:prstGeom>
          <a:noFill/>
          <a:ln w="19050">
            <a:solidFill>
              <a:srgbClr val="2424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423160"/>
            <a:ext cx="3520440" cy="685800"/>
          </a:xfrm>
          <a:prstGeom prst="rect">
            <a:avLst/>
          </a:prstGeom>
          <a:solidFill>
            <a:srgbClr val="F5F0E8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247802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PDF Statute Database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" y="2779776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14 Acts — BNS, BNSS, BSA, CPA, POCSO, RTI...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2761488"/>
            <a:ext cx="182880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383280"/>
            <a:ext cx="3520440" cy="685800"/>
          </a:xfrm>
          <a:prstGeom prst="rect">
            <a:avLst/>
          </a:prstGeom>
          <a:solidFill>
            <a:srgbClr val="E8F5E9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" y="3438144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Supabase (Postgres)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" y="3739896"/>
            <a:ext cx="34290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Auth | Session History | Query Logs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31920" y="3520440"/>
            <a:ext cx="-182880" cy="18288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Solid → active data flow   |   Dashed → planned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USE CASE DIAGRAM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1A35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Actors &amp; Interactions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920240" y="1188720"/>
            <a:ext cx="5303520" cy="3657600"/>
          </a:xfrm>
          <a:prstGeom prst="rect">
            <a:avLst/>
          </a:prstGeom>
          <a:solidFill>
            <a:srgbClr val="2C2D2E"/>
          </a:solidFill>
          <a:ln w="19050">
            <a:solidFill>
              <a:srgbClr val="D1A3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20240" y="1188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LexAid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627632"/>
            <a:ext cx="1828800" cy="438912"/>
          </a:xfrm>
          <a:prstGeom prst="ellipse">
            <a:avLst/>
          </a:prstGeom>
          <a:solidFill>
            <a:srgbClr val="905B3E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Ask Legal Question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627632"/>
            <a:ext cx="1828800" cy="438912"/>
          </a:xfrm>
          <a:prstGeom prst="ellipse">
            <a:avLst/>
          </a:prstGeom>
          <a:solidFill>
            <a:srgbClr val="905B3E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Use Triage Wizard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331720"/>
            <a:ext cx="1828800" cy="438912"/>
          </a:xfrm>
          <a:prstGeom prst="ellipse">
            <a:avLst/>
          </a:prstGeom>
          <a:solidFill>
            <a:srgbClr val="444466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View Source Sections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1828800" cy="438912"/>
          </a:xfrm>
          <a:prstGeom prst="ellipse">
            <a:avLst/>
          </a:prstGeom>
          <a:solidFill>
            <a:srgbClr val="444466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3317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WhatsApp Query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3035808"/>
            <a:ext cx="1828800" cy="438912"/>
          </a:xfrm>
          <a:prstGeom prst="ellipse">
            <a:avLst/>
          </a:prstGeom>
          <a:solidFill>
            <a:srgbClr val="444466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0358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Select Language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035808"/>
            <a:ext cx="1828800" cy="438912"/>
          </a:xfrm>
          <a:prstGeom prst="ellipse">
            <a:avLst/>
          </a:prstGeom>
          <a:solidFill>
            <a:srgbClr val="444466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0358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View Act Details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767328"/>
            <a:ext cx="2286000" cy="438912"/>
          </a:xfrm>
          <a:prstGeom prst="ellipse">
            <a:avLst/>
          </a:prstGeom>
          <a:solidFill>
            <a:srgbClr val="555533"/>
          </a:solidFill>
          <a:ln w="9525">
            <a:solidFill>
              <a:srgbClr val="D1A35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0" y="37673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Ingest Documents (Admin)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783080"/>
            <a:ext cx="502920" cy="502920"/>
          </a:xfrm>
          <a:prstGeom prst="ellipse">
            <a:avLst/>
          </a:prstGeom>
          <a:solidFill>
            <a:srgbClr val="F5F0EB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2286000"/>
            <a:ext cx="0" cy="594360"/>
          </a:xfrm>
          <a:prstGeom prst="line">
            <a:avLst/>
          </a:prstGeom>
          <a:noFill/>
          <a:ln w="19050">
            <a:solidFill>
              <a:srgbClr val="F5F0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468880"/>
            <a:ext cx="594360" cy="0"/>
          </a:xfrm>
          <a:prstGeom prst="line">
            <a:avLst/>
          </a:prstGeom>
          <a:noFill/>
          <a:ln w="19050">
            <a:solidFill>
              <a:srgbClr val="F5F0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" y="2880360"/>
            <a:ext cx="-274320" cy="411480"/>
          </a:xfrm>
          <a:prstGeom prst="line">
            <a:avLst/>
          </a:prstGeom>
          <a:noFill/>
          <a:ln w="19050">
            <a:solidFill>
              <a:srgbClr val="F5F0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1500" y="2880360"/>
            <a:ext cx="274320" cy="411480"/>
          </a:xfrm>
          <a:prstGeom prst="line">
            <a:avLst/>
          </a:prstGeom>
          <a:noFill/>
          <a:ln w="19050">
            <a:solidFill>
              <a:srgbClr val="F5F0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" y="3310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0EB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Citizen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1847088"/>
            <a:ext cx="146304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1847088"/>
            <a:ext cx="1463040" cy="704088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1847088"/>
            <a:ext cx="1463040" cy="1408176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26680" y="3611880"/>
            <a:ext cx="502920" cy="502920"/>
          </a:xfrm>
          <a:prstGeom prst="ellipse">
            <a:avLst/>
          </a:prstGeom>
          <a:solidFill>
            <a:srgbClr val="D1A356"/>
          </a:solidFill>
          <a:ln/>
        </p:spPr>
      </p:sp>
      <p:sp>
        <p:nvSpPr>
          <p:cNvPr id="31" name="Shape 29"/>
          <p:cNvSpPr/>
          <p:nvPr/>
        </p:nvSpPr>
        <p:spPr>
          <a:xfrm>
            <a:off x="7978140" y="4114800"/>
            <a:ext cx="0" cy="457200"/>
          </a:xfrm>
          <a:prstGeom prst="line">
            <a:avLst/>
          </a:prstGeom>
          <a:noFill/>
          <a:ln w="19050">
            <a:solidFill>
              <a:srgbClr val="D1A35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35240" y="4617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26680" y="3986784"/>
            <a:ext cx="-214884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DATA FLOW DIAGRAM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1 — Ingestion &amp; Query Pipelines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8778240" cy="34747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111556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INGESTION PIPELINE (one-time)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536192"/>
            <a:ext cx="1600200" cy="658368"/>
          </a:xfrm>
          <a:prstGeom prst="rect">
            <a:avLst/>
          </a:prstGeom>
          <a:solidFill>
            <a:srgbClr val="F5F0EB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" y="15544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PDF Statutes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(14 Acts)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865376"/>
            <a:ext cx="164592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7672" y="1536192"/>
            <a:ext cx="1600200" cy="658368"/>
          </a:xfrm>
          <a:prstGeom prst="rect">
            <a:avLst/>
          </a:prstGeom>
          <a:solidFill>
            <a:srgbClr val="EEF0F2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47672" y="15544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PyMuPDF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Text Extract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7872" y="1865376"/>
            <a:ext cx="164592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536192"/>
            <a:ext cx="1600200" cy="658368"/>
          </a:xfrm>
          <a:prstGeom prst="rect">
            <a:avLst/>
          </a:prstGeom>
          <a:solidFill>
            <a:srgbClr val="EEF0F2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12464" y="15544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Section-Based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Chunker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12664" y="1865376"/>
            <a:ext cx="164592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56" y="1536192"/>
            <a:ext cx="1600200" cy="658368"/>
          </a:xfrm>
          <a:prstGeom prst="rect">
            <a:avLst/>
          </a:prstGeom>
          <a:solidFill>
            <a:srgbClr val="EEF0F2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77256" y="15544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multilingual-e5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77456" y="1865376"/>
            <a:ext cx="164592" cy="0"/>
          </a:xfrm>
          <a:prstGeom prst="line">
            <a:avLst/>
          </a:prstGeom>
          <a:noFill/>
          <a:ln w="19050">
            <a:solidFill>
              <a:srgbClr val="905B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1536192"/>
            <a:ext cx="1600200" cy="658368"/>
          </a:xfrm>
          <a:prstGeom prst="rect">
            <a:avLst/>
          </a:prstGeom>
          <a:solidFill>
            <a:srgbClr val="D1A356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42048" y="155448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423160"/>
            <a:ext cx="8778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4320" y="244144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QUERY PIPELINE (per request)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2852928"/>
            <a:ext cx="1335024" cy="658368"/>
          </a:xfrm>
          <a:prstGeom prst="rect">
            <a:avLst/>
          </a:prstGeom>
          <a:solidFill>
            <a:srgbClr val="EBF5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82880" y="287121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17904" y="3182112"/>
            <a:ext cx="137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55064" y="2852928"/>
            <a:ext cx="1335024" cy="658368"/>
          </a:xfrm>
          <a:prstGeom prst="rect">
            <a:avLst/>
          </a:prstGeom>
          <a:solidFill>
            <a:srgbClr val="EEF0F2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55064" y="287121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Embed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"query:..."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90088" y="3182112"/>
            <a:ext cx="137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27248" y="2852928"/>
            <a:ext cx="1335024" cy="658368"/>
          </a:xfrm>
          <a:prstGeom prst="rect">
            <a:avLst/>
          </a:prstGeom>
          <a:solidFill>
            <a:srgbClr val="D1A356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27248" y="287121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Top-6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62272" y="3182112"/>
            <a:ext cx="137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99432" y="2852928"/>
            <a:ext cx="1335024" cy="658368"/>
          </a:xfrm>
          <a:prstGeom prst="rect">
            <a:avLst/>
          </a:prstGeom>
          <a:solidFill>
            <a:srgbClr val="905B3E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99432" y="287121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Groq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Stream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34456" y="3182112"/>
            <a:ext cx="137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71616" y="2852928"/>
            <a:ext cx="1335024" cy="658368"/>
          </a:xfrm>
          <a:prstGeom prst="rect">
            <a:avLst/>
          </a:prstGeom>
          <a:solidFill>
            <a:srgbClr val="E8F5E9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71616" y="287121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3182112"/>
            <a:ext cx="1371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43800" y="2852928"/>
            <a:ext cx="1335024" cy="658368"/>
          </a:xfrm>
          <a:prstGeom prst="rect">
            <a:avLst/>
          </a:prstGeom>
          <a:solidFill>
            <a:srgbClr val="EBF5FF"/>
          </a:solidFill>
          <a:ln w="9525">
            <a:solidFill>
              <a:srgbClr val="AAAAA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43800" y="2871216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User UI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WhatsApp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99432" y="2185416"/>
            <a:ext cx="0" cy="667512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4645152" y="24688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lookup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ChromaDB is written during Ingestion and read-only during Query. Groq API is stateless — no data retention.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SEQUENCE DIAGRAM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Query Flow — end to end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05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0058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481328"/>
            <a:ext cx="0" cy="3291840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645920" y="1005840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05B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45920" y="10058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(Next.js)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95728" y="1481328"/>
            <a:ext cx="0" cy="3291840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520440" y="1005840"/>
            <a:ext cx="1508760" cy="475488"/>
          </a:xfrm>
          <a:prstGeom prst="rect">
            <a:avLst/>
          </a:prstGeom>
          <a:solidFill>
            <a:srgbClr val="905B3E"/>
          </a:solidFill>
          <a:ln w="12700">
            <a:solidFill>
              <a:srgbClr val="905B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0058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(FastAPI)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1481328"/>
            <a:ext cx="0" cy="3291840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94960" y="1005840"/>
            <a:ext cx="1508760" cy="475488"/>
          </a:xfrm>
          <a:prstGeom prst="rect">
            <a:avLst/>
          </a:prstGeom>
          <a:solidFill>
            <a:srgbClr val="D1A356"/>
          </a:solidFill>
          <a:ln w="12700">
            <a:solidFill>
              <a:srgbClr val="905B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0058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4768" y="1481328"/>
            <a:ext cx="0" cy="3291840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269480" y="1005840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05B3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10058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Groq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19288" y="1481328"/>
            <a:ext cx="0" cy="3291840"/>
          </a:xfrm>
          <a:prstGeom prst="line">
            <a:avLst/>
          </a:prstGeom>
          <a:noFill/>
          <a:ln w="9525">
            <a:solidFill>
              <a:srgbClr val="BBBBBB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49808" y="1682496"/>
            <a:ext cx="1645920" cy="0"/>
          </a:xfrm>
          <a:prstGeom prst="line">
            <a:avLst/>
          </a:prstGeom>
          <a:noFill/>
          <a:ln w="12700">
            <a:solidFill>
              <a:srgbClr val="2424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146304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Type question + Select Triage category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95728" y="2048256"/>
            <a:ext cx="1874520" cy="0"/>
          </a:xfrm>
          <a:prstGeom prst="line">
            <a:avLst/>
          </a:prstGeom>
          <a:noFill/>
          <a:ln w="12700">
            <a:solidFill>
              <a:srgbClr val="2424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95728" y="182880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POST /api/query {question, category}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70248" y="2414016"/>
            <a:ext cx="1874520" cy="0"/>
          </a:xfrm>
          <a:prstGeom prst="line">
            <a:avLst/>
          </a:prstGeom>
          <a:noFill/>
          <a:ln w="12700">
            <a:solidFill>
              <a:srgbClr val="2424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70248" y="219456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embed("query: ...") + query(top-6, where=category)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70248" y="2779776"/>
            <a:ext cx="1874520" cy="0"/>
          </a:xfrm>
          <a:prstGeom prst="line">
            <a:avLst/>
          </a:prstGeom>
          <a:noFill/>
          <a:ln w="12700">
            <a:solidFill>
              <a:srgbClr val="905B3E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4270248" y="256032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chunks[] + distances[]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70248" y="3145536"/>
            <a:ext cx="3749040" cy="0"/>
          </a:xfrm>
          <a:prstGeom prst="line">
            <a:avLst/>
          </a:prstGeom>
          <a:noFill/>
          <a:ln w="12700">
            <a:solidFill>
              <a:srgbClr val="24242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70248" y="292608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2425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stream(system_prompt + context + question, temp=0.1)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70248" y="3511296"/>
            <a:ext cx="3749040" cy="0"/>
          </a:xfrm>
          <a:prstGeom prst="line">
            <a:avLst/>
          </a:prstGeom>
          <a:noFill/>
          <a:ln w="12700">
            <a:solidFill>
              <a:srgbClr val="905B3E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4270248" y="3291840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token stream (SSE)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95728" y="3877056"/>
            <a:ext cx="1874520" cy="0"/>
          </a:xfrm>
          <a:prstGeom prst="line">
            <a:avLst/>
          </a:prstGeom>
          <a:noFill/>
          <a:ln w="12700">
            <a:solidFill>
              <a:srgbClr val="905B3E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2395728" y="365760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SSE events: sources → tokens → done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9808" y="4242816"/>
            <a:ext cx="1645920" cy="0"/>
          </a:xfrm>
          <a:prstGeom prst="line">
            <a:avLst/>
          </a:prstGeom>
          <a:noFill/>
          <a:ln w="12700">
            <a:solidFill>
              <a:srgbClr val="905B3E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49808" y="40233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5B3E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Render Markdown + source citation badges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DEPLOYMENT DIAGRAM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675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1A35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Infrastructure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828800" cy="1920240"/>
          </a:xfrm>
          <a:prstGeom prst="rect">
            <a:avLst/>
          </a:prstGeom>
          <a:solidFill>
            <a:srgbClr val="242425"/>
          </a:solidFill>
          <a:ln w="12700">
            <a:solidFill>
              <a:srgbClr val="D1A3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0"/>
            <a:ext cx="1828800" cy="34747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" y="113385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User Devices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" y="146304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Browser / WhatsApp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17373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Chrome, Firefox, Edge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20848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Any WhatsApp device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24323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HTTPS encrypted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097280"/>
            <a:ext cx="2194560" cy="1920240"/>
          </a:xfrm>
          <a:prstGeom prst="rect">
            <a:avLst/>
          </a:prstGeom>
          <a:solidFill>
            <a:srgbClr val="1A1A2E"/>
          </a:solidFill>
          <a:ln w="12700">
            <a:solidFill>
              <a:srgbClr val="D1A3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097280"/>
            <a:ext cx="2194560" cy="34747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42032" y="11338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Vercel CDN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42032" y="146304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Next.js Frontend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1737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Next.js 14 App Router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Static + SSR rendering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432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Global edge network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097280"/>
            <a:ext cx="2194560" cy="1920240"/>
          </a:xfrm>
          <a:prstGeom prst="rect">
            <a:avLst/>
          </a:prstGeom>
          <a:solidFill>
            <a:srgbClr val="1A1A2E"/>
          </a:solidFill>
          <a:ln w="12700">
            <a:solidFill>
              <a:srgbClr val="D1A3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097280"/>
            <a:ext cx="2194560" cy="347472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93792" y="1133856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Railway / Render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93792" y="1463040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FastAPI Backend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737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FastAPI + Uvicorn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084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ChromaDB persistent disk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4323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multilingual-e5-small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1097280"/>
            <a:ext cx="1371600" cy="841248"/>
          </a:xfrm>
          <a:prstGeom prst="rect">
            <a:avLst/>
          </a:prstGeom>
          <a:solidFill>
            <a:srgbClr val="1A2A1A"/>
          </a:solidFill>
          <a:ln w="12700">
            <a:solidFill>
              <a:srgbClr val="D1A3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1097280"/>
            <a:ext cx="1371600" cy="347472"/>
          </a:xfrm>
          <a:prstGeom prst="rect">
            <a:avLst/>
          </a:prstGeom>
          <a:solidFill>
            <a:srgbClr val="2E6E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08392" y="11338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Groq Cloud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08392" y="146304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LLM API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17373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gpt-oss-120b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2103120"/>
            <a:ext cx="13716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D1A3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2103120"/>
            <a:ext cx="1371600" cy="347472"/>
          </a:xfrm>
          <a:prstGeom prst="rect">
            <a:avLst/>
          </a:prstGeom>
          <a:solidFill>
            <a:srgbClr val="2E2E6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08392" y="213969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708392" y="246888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Postgres + Auth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27432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User sessions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726680" y="30906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• Query logs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2057400"/>
            <a:ext cx="457200" cy="0"/>
          </a:xfrm>
          <a:prstGeom prst="line">
            <a:avLst/>
          </a:prstGeom>
          <a:noFill/>
          <a:ln w="19050">
            <a:solidFill>
              <a:srgbClr val="D1A3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057400"/>
            <a:ext cx="457200" cy="0"/>
          </a:xfrm>
          <a:prstGeom prst="line">
            <a:avLst/>
          </a:prstGeom>
          <a:noFill/>
          <a:ln w="19050">
            <a:solidFill>
              <a:srgbClr val="D1A35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1517904"/>
            <a:ext cx="320040" cy="0"/>
          </a:xfrm>
          <a:prstGeom prst="line">
            <a:avLst/>
          </a:prstGeom>
          <a:noFill/>
          <a:ln w="19050">
            <a:solidFill>
              <a:srgbClr val="D1A3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2560320"/>
            <a:ext cx="320040" cy="0"/>
          </a:xfrm>
          <a:prstGeom prst="line">
            <a:avLst/>
          </a:prstGeom>
          <a:noFill/>
          <a:ln w="12700">
            <a:solidFill>
              <a:srgbClr val="6666A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011680" y="2606040"/>
            <a:ext cx="3108960" cy="365760"/>
          </a:xfrm>
          <a:prstGeom prst="line">
            <a:avLst/>
          </a:prstGeom>
          <a:noFill/>
          <a:ln w="12700">
            <a:solidFill>
              <a:srgbClr val="44AA44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2011680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HTTPS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663440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A35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REST/SSE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19456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4AA44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WhatsApp Webhook (planned)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2880" y="4297680"/>
            <a:ext cx="877824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74320" y="437083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Current: localhost:8000 (FastAPI) + localhost:3000 (Next.js) | ChromaDB: D:\LexAid\backend\chroma_db | Deployment: Planned for Phase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645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425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583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05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Progress — Phase 1 Complete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20040" y="1161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COMPLETED — Phase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81912"/>
            <a:ext cx="4114800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" y="1627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PDF ingestion: 14 statutes, 1,735 chunks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" y="205740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ChromaDB vector store (cosine similarity)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441448"/>
            <a:ext cx="4114800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" y="2487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multilingual-e5-small local embedding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871216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" y="29169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FastAPI backend with SSE streaming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300984"/>
            <a:ext cx="4114800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" y="33467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Groq LLM integration (gpt-oss-120b)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730752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2608" y="3776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Next.js 14 + Triage Wizard (6 categories)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160520"/>
            <a:ext cx="4114800" cy="393192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" y="42062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Markdown rendering + source citation badges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4590288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2608" y="46360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✓  Section-based chunker with sliding-window fallback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143000"/>
            <a:ext cx="4114800" cy="384048"/>
          </a:xfrm>
          <a:prstGeom prst="rect">
            <a:avLst/>
          </a:prstGeom>
          <a:solidFill>
            <a:srgbClr val="905B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1161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◷  PLANNED — Phase 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581912"/>
            <a:ext cx="4114800" cy="393192"/>
          </a:xfrm>
          <a:prstGeom prst="rect">
            <a:avLst/>
          </a:prstGeom>
          <a:solidFill>
            <a:srgbClr val="FFF8F5"/>
          </a:solidFill>
          <a:ln w="6350">
            <a:solidFill>
              <a:srgbClr val="E8D5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16276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3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○  WhatsApp Business API webhook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011680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64608" y="205740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3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○  Multilingual support via Bhashini API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441448"/>
            <a:ext cx="4114800" cy="393192"/>
          </a:xfrm>
          <a:prstGeom prst="rect">
            <a:avLst/>
          </a:prstGeom>
          <a:solidFill>
            <a:srgbClr val="FFF8F5"/>
          </a:solidFill>
          <a:ln w="6350">
            <a:solidFill>
              <a:srgbClr val="E8D5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2487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3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○  Supabase user auth + session history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871216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64608" y="29169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3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○  In-browser OCR (Tesseract.js)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300984"/>
            <a:ext cx="4114800" cy="393192"/>
          </a:xfrm>
          <a:prstGeom prst="rect">
            <a:avLst/>
          </a:prstGeom>
          <a:solidFill>
            <a:srgbClr val="FFF8F5"/>
          </a:solidFill>
          <a:ln w="6350">
            <a:solidFill>
              <a:srgbClr val="E8D5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64608" y="334670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3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○  Vercel + Railway cloud deployment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730752"/>
            <a:ext cx="4114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8D5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64608" y="3776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4F3A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○  Evaluation set: 130 Q&amp;A pairs across statutes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4709160"/>
            <a:ext cx="8686800" cy="27432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" y="4709160"/>
            <a:ext cx="434340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74320" y="47183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Phase 1: ~50% of full roadmap complete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617720" y="47183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Phase 2: Planned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5"/>
          </a:solidFill>
          <a:ln/>
        </p:spPr>
      </p:sp>
      <p:pic>
        <p:nvPicPr>
          <p:cNvPr id="3" name="Image 0" descr="C:\Users\lenovo\AppData\Local\Temp\claude\D--LexAid\6a8b49c2-101c-4649-9950-3891d0646d46\scratchpad\template-imgs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74320"/>
            <a:ext cx="36576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9436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THANK</a:t>
            </a:r>
            <a:endParaRPr lang="en-US" sz="9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9164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1A356"/>
                </a:solidFill>
                <a:latin typeface="Brice BoldCondensed" pitchFamily="34" charset="0"/>
                <a:ea typeface="Brice BoldCondensed" pitchFamily="34" charset="-122"/>
                <a:cs typeface="Brice BoldCondensed" pitchFamily="34" charset="-120"/>
              </a:rPr>
              <a:t>YOU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F0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118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LexAid — AI-Powered Indian Legal Aid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github.com/snehal-wadhane/LexAid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Questrial" pitchFamily="34" charset="0"/>
                <a:ea typeface="Questrial" pitchFamily="34" charset="-122"/>
                <a:cs typeface="Questrial" pitchFamily="34" charset="-120"/>
              </a:rPr>
              <a:t>Built with: FastAPI • ChromaDB • Groq • Next.js 14 • Supabase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2026-09-25T14:13:23Z</dcterms:created>
  <dcterms:modified xsi:type="dcterms:W3CDTF">2026-09-25T14:13:23Z</dcterms:modified>
</cp:coreProperties>
</file>